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F89242-0A0B-444A-B413-8C13B76CEE7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D397E7-795D-421D-8739-877D8DD042F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6669A4-4D82-4050-B120-D069279328B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00C62C-F0C7-4886-91C5-62CEC691C92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4D471F-9C96-4961-A543-04A50349122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1FCE8E5-CD0D-46D6-A98F-9FB514A92D2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F46AB7-AFD7-4C75-89FA-25F5EB3DEA3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E55660-38C4-4AAE-A4BD-FA64C20F7F2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088C95-AFF2-4A29-9225-BE4CF41B7FC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AB28C1-CBA5-4BA8-8A6A-A9796ED6B1F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D6EEC4-DB5B-4C01-B9F3-807DFDC836B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B8138E-BA55-4BB4-A72E-A4D52A5DCC4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Clic</a:t>
            </a: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k to </a:t>
            </a: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edit </a:t>
            </a: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Mas</a:t>
            </a: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ter </a:t>
            </a: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title </a:t>
            </a: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styl</a:t>
            </a: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e</a:t>
            </a:r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 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 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E015C55-268D-470C-AA34-FF8222B30A12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1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6717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 fontScale="81000"/>
          </a:bodyPr>
          <a:p>
            <a:pPr algn="ctr">
              <a:lnSpc>
                <a:spcPct val="90000"/>
              </a:lnSpc>
              <a:buNone/>
            </a:pPr>
            <a:br>
              <a:rPr sz="6000"/>
            </a:br>
            <a:r>
              <a:rPr b="0" lang="en-US" sz="4900" spc="-1" strike="noStrike">
                <a:solidFill>
                  <a:srgbClr val="ffffff"/>
                </a:solidFill>
                <a:latin typeface="Calibri Light"/>
              </a:rPr>
              <a:t>Practical Data Wrangling and Visualization with SYNOP Weather Data</a:t>
            </a:r>
            <a:endParaRPr b="0" lang="en-US" sz="49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6717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1523880" y="420480"/>
            <a:ext cx="9143640" cy="81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 fontScale="88000"/>
          </a:bodyPr>
          <a:p>
            <a:pPr algn="ctr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rgbClr val="ffffff"/>
                </a:solidFill>
                <a:latin typeface="Calibri Light"/>
              </a:rPr>
              <a:t>W</a:t>
            </a:r>
            <a:r>
              <a:rPr b="0" lang="en-US" sz="6000" spc="-1" strike="noStrike">
                <a:solidFill>
                  <a:srgbClr val="ffffff"/>
                </a:solidFill>
                <a:latin typeface="Calibri Light"/>
              </a:rPr>
              <a:t>h</a:t>
            </a:r>
            <a:r>
              <a:rPr b="0" lang="en-US" sz="6000" spc="-1" strike="noStrike">
                <a:solidFill>
                  <a:srgbClr val="ffffff"/>
                </a:solidFill>
                <a:latin typeface="Calibri Light"/>
              </a:rPr>
              <a:t>a</a:t>
            </a:r>
            <a:r>
              <a:rPr b="0" lang="en-US" sz="6000" spc="-1" strike="noStrike">
                <a:solidFill>
                  <a:srgbClr val="ffffff"/>
                </a:solidFill>
                <a:latin typeface="Calibri Light"/>
              </a:rPr>
              <a:t>t </a:t>
            </a:r>
            <a:r>
              <a:rPr b="0" lang="en-US" sz="6000" spc="-1" strike="noStrike">
                <a:solidFill>
                  <a:srgbClr val="ffffff"/>
                </a:solidFill>
                <a:latin typeface="Calibri Light"/>
              </a:rPr>
              <a:t>i</a:t>
            </a:r>
            <a:r>
              <a:rPr b="0" lang="en-US" sz="6000" spc="-1" strike="noStrike">
                <a:solidFill>
                  <a:srgbClr val="ffffff"/>
                </a:solidFill>
                <a:latin typeface="Calibri Light"/>
              </a:rPr>
              <a:t>s </a:t>
            </a:r>
            <a:r>
              <a:rPr b="0" lang="en-US" sz="6000" spc="-1" strike="noStrike">
                <a:solidFill>
                  <a:srgbClr val="ffffff"/>
                </a:solidFill>
                <a:latin typeface="Calibri Light"/>
              </a:rPr>
              <a:t>t</a:t>
            </a:r>
            <a:r>
              <a:rPr b="0" lang="en-US" sz="6000" spc="-1" strike="noStrike">
                <a:solidFill>
                  <a:srgbClr val="ffffff"/>
                </a:solidFill>
                <a:latin typeface="Calibri Light"/>
              </a:rPr>
              <a:t>h</a:t>
            </a:r>
            <a:r>
              <a:rPr b="0" lang="en-US" sz="6000" spc="-1" strike="noStrike">
                <a:solidFill>
                  <a:srgbClr val="ffffff"/>
                </a:solidFill>
                <a:latin typeface="Calibri Light"/>
              </a:rPr>
              <a:t>e </a:t>
            </a:r>
            <a:r>
              <a:rPr b="0" lang="en-US" sz="6000" spc="-1" strike="noStrike">
                <a:solidFill>
                  <a:srgbClr val="ffffff"/>
                </a:solidFill>
                <a:latin typeface="Calibri Light"/>
              </a:rPr>
              <a:t>S</a:t>
            </a:r>
            <a:r>
              <a:rPr b="0" lang="en-US" sz="6000" spc="-1" strike="noStrike">
                <a:solidFill>
                  <a:srgbClr val="ffffff"/>
                </a:solidFill>
                <a:latin typeface="Calibri Light"/>
              </a:rPr>
              <a:t>c</a:t>
            </a:r>
            <a:r>
              <a:rPr b="0" lang="en-US" sz="6000" spc="-1" strike="noStrike">
                <a:solidFill>
                  <a:srgbClr val="ffffff"/>
                </a:solidFill>
                <a:latin typeface="Calibri Light"/>
              </a:rPr>
              <a:t>e</a:t>
            </a:r>
            <a:r>
              <a:rPr b="0" lang="en-US" sz="6000" spc="-1" strike="noStrike">
                <a:solidFill>
                  <a:srgbClr val="ffffff"/>
                </a:solidFill>
                <a:latin typeface="Calibri Light"/>
              </a:rPr>
              <a:t>n</a:t>
            </a:r>
            <a:r>
              <a:rPr b="0" lang="en-US" sz="6000" spc="-1" strike="noStrike">
                <a:solidFill>
                  <a:srgbClr val="ffffff"/>
                </a:solidFill>
                <a:latin typeface="Calibri Light"/>
              </a:rPr>
              <a:t>a</a:t>
            </a:r>
            <a:r>
              <a:rPr b="0" lang="en-US" sz="6000" spc="-1" strike="noStrike">
                <a:solidFill>
                  <a:srgbClr val="ffffff"/>
                </a:solidFill>
                <a:latin typeface="Calibri Light"/>
              </a:rPr>
              <a:t>r</a:t>
            </a:r>
            <a:r>
              <a:rPr b="0" lang="en-US" sz="6000" spc="-1" strike="noStrike">
                <a:solidFill>
                  <a:srgbClr val="ffffff"/>
                </a:solidFill>
                <a:latin typeface="Calibri Light"/>
              </a:rPr>
              <a:t>i</a:t>
            </a:r>
            <a:r>
              <a:rPr b="0" lang="en-US" sz="6000" spc="-1" strike="noStrike">
                <a:solidFill>
                  <a:srgbClr val="ffffff"/>
                </a:solidFill>
                <a:latin typeface="Calibri Light"/>
              </a:rPr>
              <a:t>o</a:t>
            </a:r>
            <a:r>
              <a:rPr b="0" lang="en-US" sz="6000" spc="-1" strike="noStrike">
                <a:solidFill>
                  <a:srgbClr val="ffffff"/>
                </a:solidFill>
                <a:latin typeface="Calibri Light"/>
              </a:rPr>
              <a:t>?</a:t>
            </a:r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43" name="Picture 3" descr=""/>
          <p:cNvPicPr/>
          <p:nvPr/>
        </p:nvPicPr>
        <p:blipFill>
          <a:blip r:embed="rId1"/>
          <a:stretch/>
        </p:blipFill>
        <p:spPr>
          <a:xfrm>
            <a:off x="0" y="845640"/>
            <a:ext cx="12191760" cy="5166360"/>
          </a:xfrm>
          <a:prstGeom prst="rect">
            <a:avLst/>
          </a:prstGeom>
          <a:ln w="0">
            <a:noFill/>
          </a:ln>
        </p:spPr>
      </p:pic>
      <p:sp>
        <p:nvSpPr>
          <p:cNvPr id="44" name="Oval 4"/>
          <p:cNvSpPr/>
          <p:nvPr/>
        </p:nvSpPr>
        <p:spPr>
          <a:xfrm>
            <a:off x="175320" y="2327400"/>
            <a:ext cx="10686240" cy="47484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nodeType="clickEffect" fill="hold" presetClass="entr" presetID="21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heel(1)" transition="in">
                                      <p:cBhvr additive="repl">
                                        <p:cTn id="14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6717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"/>
          <p:cNvSpPr/>
          <p:nvPr/>
        </p:nvSpPr>
        <p:spPr>
          <a:xfrm>
            <a:off x="147600" y="3244320"/>
            <a:ext cx="11896200" cy="30348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nl-NL" sz="1400" spc="-1" strike="noStrike">
                <a:solidFill>
                  <a:srgbClr val="ffffff"/>
                </a:solidFill>
                <a:latin typeface="Calibri"/>
              </a:rPr>
              <a:t>2023-09-21 12:00:00</a:t>
            </a:r>
            <a:r>
              <a:rPr b="0" lang="nl-NL" sz="1400" spc="-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nl-NL" sz="1400" spc="-1" strike="noStrike">
                <a:solidFill>
                  <a:srgbClr val="ffffff"/>
                </a:solidFill>
                <a:latin typeface="Calibri"/>
              </a:rPr>
              <a:t>AAXX 21121 40751 12960 02801 10293 20054 38475 40092 56012 60001 333 70000 555 10159 29022=</a:t>
            </a:r>
            <a:r>
              <a:rPr b="0" lang="nl-NL" sz="1400" spc="-1" strike="noStrike">
                <a:solidFill>
                  <a:srgbClr val="ffffff"/>
                </a:solidFill>
                <a:latin typeface="Calibri"/>
              </a:rPr>
              <a:t> 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6" name="Oval 5"/>
          <p:cNvSpPr/>
          <p:nvPr/>
        </p:nvSpPr>
        <p:spPr>
          <a:xfrm>
            <a:off x="5062680" y="3213000"/>
            <a:ext cx="880920" cy="3348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7" name="Rectangle 6"/>
          <p:cNvSpPr/>
          <p:nvPr/>
        </p:nvSpPr>
        <p:spPr>
          <a:xfrm>
            <a:off x="4213800" y="4249800"/>
            <a:ext cx="2491920" cy="821520"/>
          </a:xfrm>
          <a:prstGeom prst="rect">
            <a:avLst/>
          </a:prstGeom>
          <a:solidFill>
            <a:srgbClr val="4472c4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2m Temperature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8" name="Straight Arrow Connector 8"/>
          <p:cNvSpPr/>
          <p:nvPr/>
        </p:nvSpPr>
        <p:spPr>
          <a:xfrm>
            <a:off x="5459400" y="3613320"/>
            <a:ext cx="360" cy="6721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ff0000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9" name="Oval 9"/>
          <p:cNvSpPr/>
          <p:nvPr/>
        </p:nvSpPr>
        <p:spPr>
          <a:xfrm>
            <a:off x="5695200" y="3244320"/>
            <a:ext cx="705600" cy="36432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0" name="Rectangle 10"/>
          <p:cNvSpPr/>
          <p:nvPr/>
        </p:nvSpPr>
        <p:spPr>
          <a:xfrm>
            <a:off x="5468040" y="1969560"/>
            <a:ext cx="1551240" cy="821520"/>
          </a:xfrm>
          <a:prstGeom prst="rect">
            <a:avLst/>
          </a:prstGeom>
          <a:solidFill>
            <a:srgbClr val="4472c4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Dew point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1" name="Straight Arrow Connector 11"/>
          <p:cNvSpPr/>
          <p:nvPr/>
        </p:nvSpPr>
        <p:spPr>
          <a:xfrm flipH="1" flipV="1">
            <a:off x="6171480" y="2742840"/>
            <a:ext cx="360" cy="685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ff0000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2" name="Oval 21"/>
          <p:cNvSpPr/>
          <p:nvPr/>
        </p:nvSpPr>
        <p:spPr>
          <a:xfrm>
            <a:off x="147600" y="3249000"/>
            <a:ext cx="2095560" cy="36432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3" name="Rectangle 22"/>
          <p:cNvSpPr/>
          <p:nvPr/>
        </p:nvSpPr>
        <p:spPr>
          <a:xfrm>
            <a:off x="476280" y="1639800"/>
            <a:ext cx="1438200" cy="821520"/>
          </a:xfrm>
          <a:prstGeom prst="rect">
            <a:avLst/>
          </a:prstGeom>
          <a:solidFill>
            <a:srgbClr val="4472c4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Date and Time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" name="Straight Arrow Connector 23"/>
          <p:cNvSpPr/>
          <p:nvPr/>
        </p:nvSpPr>
        <p:spPr>
          <a:xfrm flipV="1">
            <a:off x="1195560" y="2460960"/>
            <a:ext cx="360" cy="786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ff0000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5" name="Oval 26"/>
          <p:cNvSpPr/>
          <p:nvPr/>
        </p:nvSpPr>
        <p:spPr>
          <a:xfrm>
            <a:off x="10287000" y="3249000"/>
            <a:ext cx="806040" cy="36432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6" name="Rectangle 27"/>
          <p:cNvSpPr/>
          <p:nvPr/>
        </p:nvSpPr>
        <p:spPr>
          <a:xfrm>
            <a:off x="10028880" y="1969560"/>
            <a:ext cx="1551240" cy="821520"/>
          </a:xfrm>
          <a:prstGeom prst="rect">
            <a:avLst/>
          </a:prstGeom>
          <a:solidFill>
            <a:srgbClr val="4472c4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Wet temperature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7" name="Straight Arrow Connector 28"/>
          <p:cNvSpPr/>
          <p:nvPr/>
        </p:nvSpPr>
        <p:spPr>
          <a:xfrm flipH="1" flipV="1">
            <a:off x="10803960" y="2791080"/>
            <a:ext cx="360" cy="4568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ff0000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8" name="Oval 29"/>
          <p:cNvSpPr/>
          <p:nvPr/>
        </p:nvSpPr>
        <p:spPr>
          <a:xfrm>
            <a:off x="10907640" y="3209400"/>
            <a:ext cx="688680" cy="36432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9" name="Rectangle 30"/>
          <p:cNvSpPr/>
          <p:nvPr/>
        </p:nvSpPr>
        <p:spPr>
          <a:xfrm>
            <a:off x="10117080" y="4376880"/>
            <a:ext cx="1551240" cy="821520"/>
          </a:xfrm>
          <a:prstGeom prst="rect">
            <a:avLst/>
          </a:prstGeom>
          <a:solidFill>
            <a:srgbClr val="4472c4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Relative humidity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0" name="Straight Arrow Connector 31"/>
          <p:cNvSpPr/>
          <p:nvPr/>
        </p:nvSpPr>
        <p:spPr>
          <a:xfrm flipH="1">
            <a:off x="10892160" y="3613680"/>
            <a:ext cx="537480" cy="7628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ff0000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5" dur="indefinite" restart="never" nodeType="tmRoot">
          <p:childTnLst>
            <p:seq>
              <p:cTn id="16" dur="indefinite" nodeType="mainSeq">
                <p:childTnLst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3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nodeType="with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3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3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4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nodeType="with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nodeType="clickEffect" fill="hold" presetClass="entr" presetID="6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ircle(in)" transition="in">
                                      <p:cBhvr additive="repl">
                                        <p:cTn id="52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nodeType="withEffect" fill="hold" presetClass="entr" presetID="6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ircle(in)" transition="in">
                                      <p:cBhvr additive="repl">
                                        <p:cTn id="55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6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6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nodeType="with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6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7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7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nodeType="with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8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8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9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9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9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9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0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0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0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1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2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2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2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2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3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6717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4"/>
          <p:cNvSpPr/>
          <p:nvPr/>
        </p:nvSpPr>
        <p:spPr>
          <a:xfrm>
            <a:off x="147600" y="3244320"/>
            <a:ext cx="11896200" cy="30276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nl-NL" sz="1400" spc="-1" strike="noStrike">
                <a:solidFill>
                  <a:srgbClr val="ffffff"/>
                </a:solidFill>
                <a:latin typeface="Calibri"/>
              </a:rPr>
              <a:t>2023-09-21 12:00:00</a:t>
            </a:r>
            <a:r>
              <a:rPr b="0" lang="nl-NL" sz="1400" spc="-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nl-NL" sz="1400" spc="-1" strike="noStrike">
                <a:solidFill>
                  <a:srgbClr val="ffffff"/>
                </a:solidFill>
                <a:latin typeface="Calibri"/>
              </a:rPr>
              <a:t>AAXX 21121 40751 12960 02801 10293 20054 38475 40092 56012 60001 333 70000 555 10159 29022=</a:t>
            </a:r>
            <a:r>
              <a:rPr b="0" lang="nl-NL" sz="1400" spc="-1" strike="noStrike">
                <a:solidFill>
                  <a:srgbClr val="ffffff"/>
                </a:solidFill>
                <a:latin typeface="Calibri"/>
              </a:rPr>
              <a:t> 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2" name="Rectangle 1"/>
          <p:cNvSpPr/>
          <p:nvPr/>
        </p:nvSpPr>
        <p:spPr>
          <a:xfrm>
            <a:off x="5125680" y="3244320"/>
            <a:ext cx="650160" cy="3690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3" name="Straight Arrow Connector 3"/>
          <p:cNvSpPr/>
          <p:nvPr/>
        </p:nvSpPr>
        <p:spPr>
          <a:xfrm flipH="1" flipV="1">
            <a:off x="2902320" y="1550160"/>
            <a:ext cx="2692080" cy="1693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150">
            <a:solidFill>
              <a:srgbClr val="ff0000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4" name="TextBox 16"/>
          <p:cNvSpPr/>
          <p:nvPr/>
        </p:nvSpPr>
        <p:spPr>
          <a:xfrm>
            <a:off x="1421280" y="366840"/>
            <a:ext cx="315072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nl-NL" sz="6000" spc="-1" strike="noStrike">
                <a:solidFill>
                  <a:srgbClr val="ffffff"/>
                </a:solidFill>
                <a:latin typeface="Calibri"/>
              </a:rPr>
              <a:t>10293</a:t>
            </a:r>
            <a:endParaRPr b="0" lang="en-US" sz="6000" spc="-1" strike="noStrike">
              <a:latin typeface="Arial"/>
            </a:endParaRPr>
          </a:p>
        </p:txBody>
      </p:sp>
      <p:sp>
        <p:nvSpPr>
          <p:cNvPr id="65" name="Rectangle 19"/>
          <p:cNvSpPr/>
          <p:nvPr/>
        </p:nvSpPr>
        <p:spPr>
          <a:xfrm>
            <a:off x="1947960" y="332280"/>
            <a:ext cx="658080" cy="99036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6" name="TextBox 24"/>
          <p:cNvSpPr/>
          <p:nvPr/>
        </p:nvSpPr>
        <p:spPr>
          <a:xfrm>
            <a:off x="914400" y="4114800"/>
            <a:ext cx="1900080" cy="21006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c00000"/>
                </a:solidFill>
                <a:latin typeface="Calibri"/>
              </a:rPr>
              <a:t>0 := +</a:t>
            </a:r>
            <a:endParaRPr b="0" lang="en-US" sz="4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c00000"/>
                </a:solidFill>
                <a:latin typeface="Calibri"/>
              </a:rPr>
              <a:t>1 := -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67" name="Straight Arrow Connector 35"/>
          <p:cNvSpPr/>
          <p:nvPr/>
        </p:nvSpPr>
        <p:spPr>
          <a:xfrm flipH="1">
            <a:off x="2742840" y="3613680"/>
            <a:ext cx="2851560" cy="5011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150">
            <a:solidFill>
              <a:srgbClr val="ff0000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8" name="TextBox 38"/>
          <p:cNvSpPr/>
          <p:nvPr/>
        </p:nvSpPr>
        <p:spPr>
          <a:xfrm>
            <a:off x="3200400" y="4709880"/>
            <a:ext cx="3429000" cy="100512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203864"/>
                </a:solidFill>
                <a:latin typeface="Calibri"/>
              </a:rPr>
              <a:t>For example: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203864"/>
                </a:solidFill>
                <a:latin typeface="Calibri"/>
              </a:rPr>
              <a:t>10256 = 25.6 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203864"/>
                </a:solidFill>
                <a:latin typeface="Calibri"/>
              </a:rPr>
              <a:t>11256 = -25.6 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69" name="TextBox 39"/>
          <p:cNvSpPr/>
          <p:nvPr/>
        </p:nvSpPr>
        <p:spPr>
          <a:xfrm>
            <a:off x="4563360" y="104400"/>
            <a:ext cx="4726080" cy="14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nl-NL" sz="8800" spc="-1" strike="noStrike">
                <a:solidFill>
                  <a:srgbClr val="ffffff"/>
                </a:solidFill>
                <a:latin typeface="Calibri"/>
              </a:rPr>
              <a:t>=29.3 </a:t>
            </a:r>
            <a:endParaRPr b="0" lang="en-US" sz="8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4" dur="indefinite" restart="never" nodeType="tmRoot">
          <p:childTnLst>
            <p:seq>
              <p:cTn id="135" dur="indefinite" nodeType="mainSeq">
                <p:childTnLst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14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14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-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150" dur="500"/>
                                        <p:tgtEl>
                                          <p:spTgt spid="-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15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16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16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17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17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</TotalTime>
  <Application>LibreOffice/7.3.7.2$Linux_X86_64 LibreOffice_project/30$Build-2</Application>
  <AppVersion>15.0000</AppVersion>
  <Words>89</Words>
  <Paragraphs>16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2024-08-13T07:06:11Z</dcterms:created>
  <dc:creator>Amir</dc:creator>
  <dc:description/>
  <dc:language>en-US</dc:language>
  <cp:lastModifiedBy/>
  <dcterms:modified xsi:type="dcterms:W3CDTF">2025-02-16T18:38:13Z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4</vt:i4>
  </property>
</Properties>
</file>